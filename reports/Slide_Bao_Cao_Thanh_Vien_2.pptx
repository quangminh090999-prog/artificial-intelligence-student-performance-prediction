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950" b="1">
                <a:solidFill>
                  <a:srgbClr val="1A368A"/>
                </a:solidFill>
              </a:defRPr>
            </a:pPr>
            <a:r>
              <a:t>BÁO CÁO NGHIỆM THU ĐỒ ÁN HỌC MÁY • PHÂN CÔNG 20% • TRẠNG THÁI: ĐÃ HOÀN THÀNH 100%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THÀNH VIÊN 2: KHÁM PHÁ DỮ LIỆU (EDA), TRỰC QUAN HÓA &amp; ĐỀ XUẤT QUY TẮC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Bộ dữ liệu: StudentPerformanceFactors.csv (6,607 sinh viên) • Git Branch: feature/eda • Commit: feb28ad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411480"/>
            <a:ext cx="2468880" cy="8686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900">
                <a:solidFill>
                  <a:srgbClr val="1A368A"/>
                </a:solidFill>
              </a:defRPr>
            </a:pPr>
            <a:r>
              <a:t>Thành viên phụ trách:</a:t>
            </a:r>
          </a:p>
          <a:p>
            <a:pPr>
              <a:defRPr sz="1200" b="1">
                <a:solidFill>
                  <a:srgbClr val="1A368A"/>
                </a:solidFill>
              </a:defRPr>
            </a:pPr>
            <a:r>
              <a:t>Thành viên 2 (Beniuoi9)</a:t>
            </a:r>
          </a:p>
          <a:p>
            <a:pPr>
              <a:defRPr sz="850" b="1">
                <a:solidFill>
                  <a:srgbClr val="059669"/>
                </a:solidFill>
              </a:defRPr>
            </a:pPr>
            <a:r>
              <a:t>MSSV: [Điền MSSV] • Unit Tests: 11/11 Passed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150" b="1">
                <a:solidFill>
                  <a:srgbClr val="1A368A"/>
                </a:solidFill>
              </a:defRPr>
            </a:pPr>
            <a:r>
              <a:t>1. KHẢO SÁT &amp; CHẤT LƯỢNG DỮ LIỆU</a:t>
            </a:r>
          </a:p>
          <a:p>
            <a:br/>
            <a:pPr>
              <a:defRPr b="1" sz="1000">
                <a:solidFill>
                  <a:srgbClr val="0F172A"/>
                </a:solidFill>
              </a:defRPr>
            </a:pPr>
            <a:r>
              <a:t>📊 Quy mô thực tế: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6,607 bản ghi sinh viên (0 dòng trùng lặp).</a:t>
            </a:r>
            <a:br/>
            <a:r>
              <a:t>19 đặc trưng độc lập + 1 biến mục tiêu Exam_Score.</a:t>
            </a:r>
          </a:p>
          <a:p>
            <a:br/>
            <a:pPr>
              <a:defRPr b="1" sz="1000">
                <a:solidFill>
                  <a:srgbClr val="0F172A"/>
                </a:solidFill>
              </a:defRPr>
            </a:pPr>
            <a:r>
              <a:t>📈 Phân bố Exam_Score: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Hình chuông đối xứng chuẩn (Mean = 67.23, Median = 67.0, Độ lệch chuẩn SD = 3.93).</a:t>
            </a:r>
          </a:p>
          <a:p>
            <a:br/>
            <a:pPr>
              <a:defRPr b="1" sz="1000">
                <a:solidFill>
                  <a:srgbClr val="0F172A"/>
                </a:solidFill>
              </a:defRPr>
            </a:pPr>
            <a:r>
              <a:t>⚠️ Phát hiện điểm bất thường (101):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Phát hiện 01 sinh viên có Exam_Score = 101 (vượt trần 100 điểm).</a:t>
            </a:r>
            <a:br/>
            <a:r>
              <a:t>👉 Quyết định: Giới hạn trần về 100 (clip) thay vì xóa mẫu để bảo toàn 19 đặc trưng giá trị.</a:t>
            </a:r>
          </a:p>
          <a:p>
            <a:br/>
            <a:pPr>
              <a:defRPr b="1" sz="1000">
                <a:solidFill>
                  <a:srgbClr val="0F172A"/>
                </a:solidFill>
              </a:defRPr>
            </a:pPr>
            <a:r>
              <a:t>🔍 Dữ liệu thiếu (&lt; 1.5%):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Chỉ 3 cột phân loại bị thiếu:</a:t>
            </a:r>
            <a:br/>
            <a:r>
              <a:t>• Parental_Education: 90 dòng (1.36%)</a:t>
            </a:r>
            <a:br/>
            <a:r>
              <a:t>• Teacher_Quality: 78 dòng (1.18%)</a:t>
            </a:r>
            <a:br/>
            <a:r>
              <a:t>• Distance_from_Home: 67 dòng (1.01%)</a:t>
            </a:r>
            <a:br/>
            <a:r>
              <a:t>👉 Đề xuất Người 3: Điền bằng Mode (most_frequent).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508760"/>
            <a:ext cx="39319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150" b="1">
                <a:solidFill>
                  <a:srgbClr val="059669"/>
                </a:solidFill>
              </a:defRPr>
            </a:pPr>
            <a:r>
              <a:t>2. PHÁT HIỆN TƯƠNG QUAN &amp; QUY LUẬT</a:t>
            </a:r>
          </a:p>
          <a:p>
            <a:br/>
            <a:pPr>
              <a:defRPr b="1" sz="1000">
                <a:solidFill>
                  <a:srgbClr val="0F172A"/>
                </a:solidFill>
              </a:defRPr>
            </a:pPr>
            <a:r>
              <a:t>🔗 Ma trận tương quan tuyến tính Pearson (r):</a:t>
            </a:r>
          </a:p>
          <a:p>
            <a:pPr>
              <a:defRPr sz="880">
                <a:solidFill>
                  <a:srgbClr val="475569"/>
                </a:solidFill>
              </a:defRPr>
            </a:pPr>
            <a:r>
              <a:t>• Chuyên cần (Attendance): r = +0.582 (Tác động mạnh nhất)</a:t>
            </a:r>
            <a:br/>
            <a:r>
              <a:t>• Giờ tự học (Hours_Studied): r = +0.447 (Rất quan trọng)</a:t>
            </a:r>
            <a:br/>
            <a:r>
              <a:t>• Điểm trước đây: +0.187 | Số buổi phụ đạo: +0.165</a:t>
            </a:r>
            <a:br/>
            <a:r>
              <a:t>• Giấc ngủ &amp; Vận động: |r| &lt; 0.03 (Gần như không tương quan)</a:t>
            </a:r>
          </a:p>
        </p:txBody>
      </p:sp>
      <p:pic>
        <p:nvPicPr>
          <p:cNvPr id="7" name="Picture 6" descr="03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3520440"/>
            <a:ext cx="3383280" cy="30785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51663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 b="1">
                <a:solidFill>
                  <a:srgbClr val="D97706"/>
                </a:solidFill>
              </a:defRPr>
            </a:pPr>
            <a:r>
              <a:t>💡 Lưu ý phương pháp luận: Tương quan Pearson (r) phản ánh sự đồng biến, KHÔNG đồng nghĩa quan hệ nhân quả (Correlation ≠ Causation).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508760"/>
            <a:ext cx="3322015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150" b="1">
                <a:solidFill>
                  <a:srgbClr val="4F46E5"/>
                </a:solidFill>
              </a:defRPr>
            </a:pPr>
            <a:r>
              <a:t>3. SẢN PHẨM BÀN GIAO (DELIVERABLES)</a:t>
            </a:r>
          </a:p>
          <a:p>
            <a:br/>
            <a:pPr>
              <a:defRPr b="1" sz="950">
                <a:solidFill>
                  <a:srgbClr val="0F172A"/>
                </a:solidFill>
              </a:defRPr>
            </a:pPr>
            <a:r>
              <a:t>⚙️ src/eda.py (Module tự động):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Chạy 'python -m src.eda' tự sinh báo cáo và toàn bộ 6 biểu đồ.</a:t>
            </a:r>
          </a:p>
          <a:p>
            <a:br/>
            <a:pPr>
              <a:defRPr b="1" sz="950">
                <a:solidFill>
                  <a:srgbClr val="0F172A"/>
                </a:solidFill>
              </a:defRPr>
            </a:pPr>
            <a:r>
              <a:t>📓 notebooks/01_eda.ipynb: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Notebook khám phá 10 phần, thực thi 100% không lỗi kèm nhận xét chi tiết.</a:t>
            </a:r>
          </a:p>
          <a:p>
            <a:br/>
            <a:pPr>
              <a:defRPr b="1" sz="950">
                <a:solidFill>
                  <a:srgbClr val="0F172A"/>
                </a:solidFill>
              </a:defRPr>
            </a:pPr>
            <a:r>
              <a:t>🖼️ reports/figures/ (6 ảnh 300 DPI):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Đầy đủ biểu đồ phân bố, missing, heatmap, boxplot, scatter và so sánh nhóm.</a:t>
            </a:r>
          </a:p>
          <a:p>
            <a:br/>
            <a:pPr>
              <a:defRPr b="1" sz="950">
                <a:solidFill>
                  <a:srgbClr val="0F172A"/>
                </a:solidFill>
              </a:defRPr>
            </a:pPr>
            <a:r>
              <a:t>📋 Mốc H1: proposed_input_rules.json: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Bàn giao miền min/max &amp; danh mục hợp lệ cho Người 1 (Validation) và Người 5 (Streamlit).</a:t>
            </a:r>
          </a:p>
          <a:p>
            <a:br/>
            <a:pPr>
              <a:defRPr b="1" sz="950">
                <a:solidFill>
                  <a:srgbClr val="0F172A"/>
                </a:solidFill>
              </a:defRPr>
            </a:pPr>
            <a:r>
              <a:t>📝 docs/chuong_2_phan_tich_du_lieu_eda.md: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Toàn văn Chương 2 chuẩn học thuật sẵn sàng nộp báo cáo.</a:t>
            </a:r>
          </a:p>
          <a:p>
            <a:br/>
            <a:pPr>
              <a:defRPr b="1" sz="950">
                <a:solidFill>
                  <a:srgbClr val="0F172A"/>
                </a:solidFill>
              </a:defRPr>
            </a:pPr>
            <a:r>
              <a:t>✅ Kiểm thử &amp; Đẩy Git: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tests/test_eda.py đạt 11/11 tests. Đã push nhánh feature/eda lên GitHub.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1094415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GIÁ TRỊ CHUYỂN GIAO CHO NHÓM:   • Người 1: Tích hợp 19 luật kiểm định &amp; clip điểm 101   |   • Người 3: Điền mode cho 3 cột khuyết, tập trung vào Attendance &amp; Hours   |   • Người 5: Giới hạn các slider trên Streamlit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